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Funnel Display" panose="020B0604020202020204" charset="0"/>
      <p:regular r:id="rId13"/>
    </p:embeddedFont>
    <p:embeddedFont>
      <p:font typeface="Funnel Sans" panose="020B0604020202020204" charset="0"/>
      <p:regular r:id="rId14"/>
    </p:embeddedFont>
    <p:embeddedFont>
      <p:font typeface="Funnel Sans Bold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9139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5EB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FAF5EB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9786" y="385465"/>
            <a:ext cx="3279428" cy="437257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577" y="1462683"/>
            <a:ext cx="4667845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kern="0" spc="-24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Blinkit Grocery Sales Dashboard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523577" y="2567062"/>
            <a:ext cx="4667845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kern="0" spc="-24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 Power BI project analysing </a:t>
            </a:r>
            <a:r>
              <a:rPr lang="en-US" sz="1150" b="1" kern="0" spc="-24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500 grocery orders</a:t>
            </a:r>
            <a:r>
              <a:rPr lang="en-US" sz="1150" kern="0" spc="-24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across Mumbai's Andheri region — turning raw transactional data into actionable business intelligence for managers and decision-makers.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523577" y="3453482"/>
            <a:ext cx="1206996" cy="227335"/>
          </a:xfrm>
          <a:prstGeom prst="roundRect">
            <a:avLst>
              <a:gd name="adj" fmla="val 22113"/>
            </a:avLst>
          </a:prstGeom>
          <a:solidFill>
            <a:srgbClr val="D8E7F3"/>
          </a:solidFill>
          <a:ln/>
        </p:spPr>
      </p:sp>
      <p:sp>
        <p:nvSpPr>
          <p:cNvPr id="7" name="Text 4"/>
          <p:cNvSpPr/>
          <p:nvPr/>
        </p:nvSpPr>
        <p:spPr>
          <a:xfrm>
            <a:off x="613321" y="3498354"/>
            <a:ext cx="1484709" cy="137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00" kern="0" spc="-24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POWER BI PROJECT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805360" y="3453482"/>
            <a:ext cx="1201192" cy="227335"/>
          </a:xfrm>
          <a:prstGeom prst="roundRect">
            <a:avLst>
              <a:gd name="adj" fmla="val 22113"/>
            </a:avLst>
          </a:prstGeom>
          <a:noFill/>
          <a:ln w="4763">
            <a:solidFill>
              <a:srgbClr val="3371A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895103" y="3498354"/>
            <a:ext cx="1478905" cy="137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00" kern="0" spc="-24" dirty="0">
                <a:solidFill>
                  <a:srgbClr val="3371A5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MUMBAI · ANDHERI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27286"/>
            <a:ext cx="8096845" cy="178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0" spc="-19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Project Purpose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23577" y="645468"/>
            <a:ext cx="8096845" cy="357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kern="0" spc="-19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From Raw Data to Clear Decisions</a:t>
            </a:r>
            <a:endParaRPr lang="en-US" sz="22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77" y="1262211"/>
            <a:ext cx="2641178" cy="264117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465984" y="2318370"/>
            <a:ext cx="5159127" cy="528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50" kern="0" spc="-19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The Blinkit Grocery Sales Dashboard converts 500 order records into an </a:t>
            </a:r>
            <a:r>
              <a:rPr lang="en-US" sz="950" b="1" kern="0" spc="-19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interactive, easy-to-understand Power BI dashboard</a:t>
            </a:r>
            <a:r>
              <a:rPr lang="en-US" sz="950" kern="0" spc="-19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that supports data-driven decisions across sales, operations, and management.</a:t>
            </a:r>
            <a:endParaRPr lang="en-US" sz="9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9119" y="4129348"/>
            <a:ext cx="182314" cy="18231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18567" y="4125590"/>
            <a:ext cx="2221632" cy="178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0" spc="-19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Analyse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918567" y="4363566"/>
            <a:ext cx="2221632" cy="176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50" kern="0" spc="-19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Sales, profit, quantity, and order trends</a:t>
            </a:r>
            <a:endParaRPr lang="en-US" sz="9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09193" y="4129348"/>
            <a:ext cx="182314" cy="18231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658642" y="4125590"/>
            <a:ext cx="2221632" cy="178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0" spc="-19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Compare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3658642" y="4363566"/>
            <a:ext cx="2221632" cy="3525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50" kern="0" spc="-19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Outlet-wise and category-wise performance</a:t>
            </a:r>
            <a:endParaRPr lang="en-US" sz="9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49268" y="4129348"/>
            <a:ext cx="182314" cy="18231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398716" y="4125590"/>
            <a:ext cx="2221706" cy="178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0" spc="-19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Act</a:t>
            </a:r>
            <a:endParaRPr lang="en-US" sz="1100" dirty="0"/>
          </a:p>
        </p:txBody>
      </p:sp>
      <p:sp>
        <p:nvSpPr>
          <p:cNvPr id="14" name="Text 8"/>
          <p:cNvSpPr/>
          <p:nvPr/>
        </p:nvSpPr>
        <p:spPr>
          <a:xfrm>
            <a:off x="6398716" y="4363566"/>
            <a:ext cx="2221706" cy="176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50" kern="0" spc="-19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Deliver insights that drive faster decisions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FAF5EB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7536" y="355774"/>
            <a:ext cx="3323853" cy="443187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577" y="439936"/>
            <a:ext cx="4667845" cy="309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kern="0" spc="-17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Dataset at a Glance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523577" y="912688"/>
            <a:ext cx="4667845" cy="347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700" kern="0" spc="-17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500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23577" y="1367805"/>
            <a:ext cx="4667845" cy="154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kern="0" spc="-17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Grocery Orders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23577" y="1566788"/>
            <a:ext cx="4667845" cy="143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4000"/>
              </a:lnSpc>
              <a:buNone/>
            </a:pPr>
            <a:r>
              <a:rPr lang="en-US" sz="800" kern="0" spc="-1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Complete sales records from the Andheri region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23577" y="1910507"/>
            <a:ext cx="4667845" cy="347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700" kern="0" spc="-17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5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523577" y="2365623"/>
            <a:ext cx="4667845" cy="154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kern="0" spc="-17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Key Dimensions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23577" y="2564606"/>
            <a:ext cx="4667845" cy="143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4000"/>
              </a:lnSpc>
              <a:buNone/>
            </a:pPr>
            <a:r>
              <a:rPr lang="en-US" sz="800" kern="0" spc="-1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Outlet, Category, Payment, Delivery, Date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23577" y="2908325"/>
            <a:ext cx="4667845" cy="347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700" kern="0" spc="-17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4</a:t>
            </a:r>
            <a:endParaRPr lang="en-US" sz="2700" dirty="0"/>
          </a:p>
        </p:txBody>
      </p:sp>
      <p:sp>
        <p:nvSpPr>
          <p:cNvPr id="12" name="Text 9"/>
          <p:cNvSpPr/>
          <p:nvPr/>
        </p:nvSpPr>
        <p:spPr>
          <a:xfrm>
            <a:off x="523577" y="3363441"/>
            <a:ext cx="4667845" cy="154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kern="0" spc="-17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Core KPIs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23577" y="3562424"/>
            <a:ext cx="4667845" cy="143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4000"/>
              </a:lnSpc>
              <a:buNone/>
            </a:pPr>
            <a:r>
              <a:rPr lang="en-US" sz="800" kern="0" spc="-1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Sales, Profit, Orders, and Quantity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523577" y="3906143"/>
            <a:ext cx="4667845" cy="347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700" kern="0" spc="-17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1</a:t>
            </a:r>
            <a:endParaRPr lang="en-US" sz="2700" dirty="0"/>
          </a:p>
        </p:txBody>
      </p:sp>
      <p:sp>
        <p:nvSpPr>
          <p:cNvPr id="15" name="Text 12"/>
          <p:cNvSpPr/>
          <p:nvPr/>
        </p:nvSpPr>
        <p:spPr>
          <a:xfrm>
            <a:off x="523577" y="4361259"/>
            <a:ext cx="4667845" cy="154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kern="0" spc="-17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Region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23577" y="4560243"/>
            <a:ext cx="4667845" cy="143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4000"/>
              </a:lnSpc>
              <a:buNone/>
            </a:pPr>
            <a:r>
              <a:rPr lang="en-US" sz="800" kern="0" spc="-1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Mumbai — Andheri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11435"/>
            <a:ext cx="8096845" cy="1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kern="0" spc="-12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Data Preparation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523577" y="536377"/>
            <a:ext cx="8096845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12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Cleaning &amp; Preparing the Dataset</a:t>
            </a:r>
            <a:endParaRPr lang="en-US" sz="1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77" y="854422"/>
            <a:ext cx="3957191" cy="395719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667994" y="2537743"/>
            <a:ext cx="3957191" cy="1794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kern="0" spc="-12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Before visualisation, the dataset was thoroughly validated and standardised to ensure accuracy and consistency across all analysis dimensions.</a:t>
            </a:r>
            <a:endParaRPr lang="en-US" sz="550" dirty="0"/>
          </a:p>
        </p:txBody>
      </p:sp>
      <p:sp>
        <p:nvSpPr>
          <p:cNvPr id="6" name="Text 3"/>
          <p:cNvSpPr/>
          <p:nvPr/>
        </p:nvSpPr>
        <p:spPr>
          <a:xfrm>
            <a:off x="4667994" y="2750865"/>
            <a:ext cx="3957191" cy="398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kern="0" spc="-12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Missing values and duplicates identified and resolved</a:t>
            </a:r>
            <a:endParaRPr lang="en-US" sz="55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kern="0" spc="-12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Numeric columns (Sales, Profit, Quantity) verified and corrected</a:t>
            </a:r>
            <a:endParaRPr lang="en-US" sz="55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kern="0" spc="-12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Categorical fields standardised for reliable filtering</a:t>
            </a:r>
            <a:endParaRPr lang="en-US" sz="55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kern="0" spc="-12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Calculated fields created for KPI measures</a:t>
            </a:r>
            <a:endParaRPr lang="en-US" sz="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839912"/>
            <a:ext cx="8096845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4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Technology Stack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523577" y="1119708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kern="0" spc="-24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Tools &amp; Techniques Used</a:t>
            </a:r>
            <a:endParaRPr lang="en-US" sz="2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577" y="1784077"/>
            <a:ext cx="374005" cy="37400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23577" y="2345085"/>
            <a:ext cx="3954884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4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Microsoft Power BI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23577" y="2654796"/>
            <a:ext cx="3954884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kern="0" spc="-24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Dashboard creation, interactive visuals, and report publishing</a:t>
            </a:r>
            <a:endParaRPr lang="en-US" sz="11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5464" y="1784077"/>
            <a:ext cx="374005" cy="37400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65464" y="2345085"/>
            <a:ext cx="395495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4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Excel / CSV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4665464" y="2654796"/>
            <a:ext cx="3954959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kern="0" spc="-24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Data storage, initial preparation, and exploratory analysis</a:t>
            </a:r>
            <a:endParaRPr lang="en-US" sz="11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577" y="3193405"/>
            <a:ext cx="374005" cy="37400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23577" y="3754413"/>
            <a:ext cx="3954884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4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Power Query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523577" y="4064124"/>
            <a:ext cx="3954884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kern="0" spc="-24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Data transformation, cleaning, and shaping before loading</a:t>
            </a:r>
            <a:endParaRPr lang="en-US" sz="11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65464" y="3193405"/>
            <a:ext cx="374005" cy="37400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665464" y="3754413"/>
            <a:ext cx="395495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4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DAX Measures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4665464" y="4064124"/>
            <a:ext cx="3954959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kern="0" spc="-24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Custom KPI calculations for Sales, Profit, and Delivery metrics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751582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kern="0" spc="-24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Dashboard Features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523577" y="1490811"/>
            <a:ext cx="3973637" cy="867296"/>
          </a:xfrm>
          <a:prstGeom prst="roundRect">
            <a:avLst>
              <a:gd name="adj" fmla="val 7245"/>
            </a:avLst>
          </a:prstGeom>
          <a:solidFill>
            <a:srgbClr val="FAF5EB"/>
          </a:solidFill>
          <a:ln w="4763">
            <a:solidFill>
              <a:srgbClr val="D5CD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7912" y="1645146"/>
            <a:ext cx="3664967" cy="2294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4" dirty="0">
                <a:solidFill>
                  <a:srgbClr val="000000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🏠</a:t>
            </a:r>
            <a:r>
              <a:rPr lang="en-US" sz="1350" kern="0" spc="-24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 Welcome Page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77912" y="1964382"/>
            <a:ext cx="3664967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kern="0" spc="-24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Project introduction and dashboard overview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646786" y="1490811"/>
            <a:ext cx="3973637" cy="867296"/>
          </a:xfrm>
          <a:prstGeom prst="roundRect">
            <a:avLst>
              <a:gd name="adj" fmla="val 7245"/>
            </a:avLst>
          </a:prstGeom>
          <a:solidFill>
            <a:srgbClr val="FAF5EB"/>
          </a:solidFill>
          <a:ln w="4763">
            <a:solidFill>
              <a:srgbClr val="D5CDB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01121" y="1645146"/>
            <a:ext cx="3664967" cy="2294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4" dirty="0">
                <a:solidFill>
                  <a:srgbClr val="000000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📊</a:t>
            </a:r>
            <a:r>
              <a:rPr lang="en-US" sz="1350" kern="0" spc="-24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 Executive Dashboard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801121" y="1964382"/>
            <a:ext cx="3664967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kern="0" spc="-24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Overall business KPIs at a glance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23577" y="2507679"/>
            <a:ext cx="3973637" cy="867296"/>
          </a:xfrm>
          <a:prstGeom prst="roundRect">
            <a:avLst>
              <a:gd name="adj" fmla="val 7245"/>
            </a:avLst>
          </a:prstGeom>
          <a:solidFill>
            <a:srgbClr val="FAF5EB"/>
          </a:solidFill>
          <a:ln w="4763">
            <a:solidFill>
              <a:srgbClr val="D5CDB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7912" y="2662014"/>
            <a:ext cx="3664967" cy="2294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4" dirty="0">
                <a:solidFill>
                  <a:srgbClr val="000000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📈</a:t>
            </a:r>
            <a:r>
              <a:rPr lang="en-US" sz="1350" kern="0" spc="-24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 Sales Analysis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77912" y="2981251"/>
            <a:ext cx="3664967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kern="0" spc="-24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Trends and category-wise performance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646786" y="2507679"/>
            <a:ext cx="3973637" cy="867296"/>
          </a:xfrm>
          <a:prstGeom prst="roundRect">
            <a:avLst>
              <a:gd name="adj" fmla="val 7245"/>
            </a:avLst>
          </a:prstGeom>
          <a:solidFill>
            <a:srgbClr val="FAF5EB"/>
          </a:solidFill>
          <a:ln w="4763">
            <a:solidFill>
              <a:srgbClr val="D5CDB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1121" y="2662014"/>
            <a:ext cx="3664967" cy="2294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4" dirty="0">
                <a:solidFill>
                  <a:srgbClr val="000000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🏪</a:t>
            </a:r>
            <a:r>
              <a:rPr lang="en-US" sz="1350" kern="0" spc="-24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 Outlet Performance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801121" y="2981251"/>
            <a:ext cx="3664967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kern="0" spc="-24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Sales, profit, and orders by outlet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23577" y="3524548"/>
            <a:ext cx="3973637" cy="867296"/>
          </a:xfrm>
          <a:prstGeom prst="roundRect">
            <a:avLst>
              <a:gd name="adj" fmla="val 7245"/>
            </a:avLst>
          </a:prstGeom>
          <a:solidFill>
            <a:srgbClr val="FAF5EB"/>
          </a:solidFill>
          <a:ln w="4763">
            <a:solidFill>
              <a:srgbClr val="D5CDB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7912" y="3678882"/>
            <a:ext cx="3664967" cy="2294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4" dirty="0">
                <a:solidFill>
                  <a:srgbClr val="000000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🚚</a:t>
            </a:r>
            <a:r>
              <a:rPr lang="en-US" sz="1350" kern="0" spc="-24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 Delivery Analysis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77912" y="3998119"/>
            <a:ext cx="3664967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kern="0" spc="-24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Delivery time and status monitoring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646786" y="3524548"/>
            <a:ext cx="3973637" cy="867296"/>
          </a:xfrm>
          <a:prstGeom prst="roundRect">
            <a:avLst>
              <a:gd name="adj" fmla="val 7245"/>
            </a:avLst>
          </a:prstGeom>
          <a:solidFill>
            <a:srgbClr val="FAF5EB"/>
          </a:solidFill>
          <a:ln w="4763">
            <a:solidFill>
              <a:srgbClr val="D5CDB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1121" y="3678882"/>
            <a:ext cx="3664967" cy="2294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4" dirty="0">
                <a:solidFill>
                  <a:srgbClr val="000000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🎛️</a:t>
            </a:r>
            <a:r>
              <a:rPr lang="en-US" sz="1350" kern="0" spc="-24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 Interactive Slicers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801121" y="3998119"/>
            <a:ext cx="3664967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kern="0" spc="-24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Date, Outlet, Category, Payment, Status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532135"/>
            <a:ext cx="8096845" cy="213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0" spc="-23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Key Performance Indicators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23577" y="801291"/>
            <a:ext cx="8096845" cy="426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kern="0" spc="-23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What the Dashboard Measures</a:t>
            </a:r>
            <a:endParaRPr lang="en-US" sz="26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577" y="1596033"/>
            <a:ext cx="1619473" cy="13661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712" y="1759967"/>
            <a:ext cx="1215405" cy="213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0" spc="-23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Total Sales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63712" y="2113359"/>
            <a:ext cx="1215405" cy="6849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100" kern="0" spc="-23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Revenue generated across all orders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3396" y="1596033"/>
            <a:ext cx="1619473" cy="13661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523530" y="1759967"/>
            <a:ext cx="1215405" cy="213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0" spc="-23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Total Profit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2523530" y="2113359"/>
            <a:ext cx="1215405" cy="456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100" kern="0" spc="-23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Net profitability after costs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43214" y="1596033"/>
            <a:ext cx="1619548" cy="13661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283348" y="1759967"/>
            <a:ext cx="1215479" cy="213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0" spc="-23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Total Orders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4283348" y="2113359"/>
            <a:ext cx="1215479" cy="6849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100" kern="0" spc="-23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Count of all grocery transactions</a:t>
            </a:r>
            <a:endParaRPr lang="en-US" sz="11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577" y="3102546"/>
            <a:ext cx="1619473" cy="135091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63712" y="3266480"/>
            <a:ext cx="1215405" cy="213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0" spc="-23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Total Quantity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763712" y="3619872"/>
            <a:ext cx="1215405" cy="456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100" kern="0" spc="-23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Units sold across all categories</a:t>
            </a:r>
            <a:endParaRPr lang="en-US" sz="11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83396" y="3102546"/>
            <a:ext cx="1619473" cy="1350913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2523530" y="3266480"/>
            <a:ext cx="1215405" cy="426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0" spc="-23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Avg. Delivery Time</a:t>
            </a:r>
            <a:endParaRPr lang="en-US" sz="1300" dirty="0"/>
          </a:p>
        </p:txBody>
      </p:sp>
      <p:sp>
        <p:nvSpPr>
          <p:cNvPr id="18" name="Text 11"/>
          <p:cNvSpPr/>
          <p:nvPr/>
        </p:nvSpPr>
        <p:spPr>
          <a:xfrm>
            <a:off x="2523530" y="3832920"/>
            <a:ext cx="1215405" cy="456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100" kern="0" spc="-23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Mean delivery duration in minutes</a:t>
            </a:r>
            <a:endParaRPr lang="en-US" sz="11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1139" y="1722686"/>
            <a:ext cx="2604046" cy="260404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19398"/>
            <a:ext cx="8096845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0" spc="-21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Who It's For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23577" y="657671"/>
            <a:ext cx="8096845" cy="384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kern="0" spc="-21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Target Users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77" y="1214363"/>
            <a:ext cx="843335" cy="8433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23577" y="2200870"/>
            <a:ext cx="1916832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0" spc="-21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Business Managers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23577" y="2462064"/>
            <a:ext cx="1916832" cy="392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kern="0" spc="-2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Monitor overall sales and profit performance</a:t>
            </a:r>
            <a:endParaRPr lang="en-US" sz="1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3582" y="1214363"/>
            <a:ext cx="843335" cy="84333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583582" y="2200870"/>
            <a:ext cx="1916832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0" spc="-21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Outlet Managers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2583582" y="2462064"/>
            <a:ext cx="1916832" cy="392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kern="0" spc="-2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Compare outlet-wise sales and profitability</a:t>
            </a:r>
            <a:endParaRPr lang="en-US" sz="10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3586" y="1214363"/>
            <a:ext cx="843335" cy="84333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643586" y="2200870"/>
            <a:ext cx="1916832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0" spc="-21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Sales &amp; Marketing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4643586" y="2462064"/>
            <a:ext cx="1916832" cy="392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kern="0" spc="-2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Analyse product categories and sales trends</a:t>
            </a:r>
            <a:endParaRPr lang="en-US" sz="10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3591" y="1214363"/>
            <a:ext cx="843335" cy="84333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703591" y="2200870"/>
            <a:ext cx="1916832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0" spc="-21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Operations Teams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6703591" y="2462064"/>
            <a:ext cx="1916832" cy="392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kern="0" spc="-2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Monitor delivery time and service status</a:t>
            </a:r>
            <a:endParaRPr lang="en-US" sz="10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577" y="3083719"/>
            <a:ext cx="843335" cy="84333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23577" y="4070226"/>
            <a:ext cx="1916832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0" spc="-21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Business Analysts</a:t>
            </a:r>
            <a:endParaRPr lang="en-US" sz="1200" dirty="0"/>
          </a:p>
        </p:txBody>
      </p:sp>
      <p:sp>
        <p:nvSpPr>
          <p:cNvPr id="18" name="Text 11"/>
          <p:cNvSpPr/>
          <p:nvPr/>
        </p:nvSpPr>
        <p:spPr>
          <a:xfrm>
            <a:off x="523577" y="4331419"/>
            <a:ext cx="1916832" cy="392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kern="0" spc="-2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Explore data and uncover business insights</a:t>
            </a:r>
            <a:endParaRPr lang="en-US" sz="10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83582" y="3083719"/>
            <a:ext cx="843335" cy="843335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2583582" y="4070226"/>
            <a:ext cx="1916832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0" spc="-21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Decision Makers</a:t>
            </a:r>
            <a:endParaRPr lang="en-US" sz="1200" dirty="0"/>
          </a:p>
        </p:txBody>
      </p:sp>
      <p:sp>
        <p:nvSpPr>
          <p:cNvPr id="21" name="Text 13"/>
          <p:cNvSpPr/>
          <p:nvPr/>
        </p:nvSpPr>
        <p:spPr>
          <a:xfrm>
            <a:off x="2583582" y="4331419"/>
            <a:ext cx="1916832" cy="392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kern="0" spc="-2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Use dashboard insights for strategic planning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26690"/>
            <a:ext cx="8096845" cy="116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kern="0" spc="-13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Project Deliverables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23577" y="560412"/>
            <a:ext cx="8096845" cy="23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kern="0" spc="-13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Files Included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77" y="904949"/>
            <a:ext cx="2707779" cy="270777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430042" y="2210172"/>
            <a:ext cx="5652269" cy="97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600" kern="0" spc="-13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The complete project package includes all assets required to review, replicate, and present the dashboard.</a:t>
            </a:r>
            <a:endParaRPr lang="en-US" sz="600" dirty="0"/>
          </a:p>
        </p:txBody>
      </p:sp>
      <p:sp>
        <p:nvSpPr>
          <p:cNvPr id="6" name="Text 3"/>
          <p:cNvSpPr/>
          <p:nvPr/>
        </p:nvSpPr>
        <p:spPr>
          <a:xfrm>
            <a:off x="523577" y="3707681"/>
            <a:ext cx="158948" cy="993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" kern="0" spc="-13" dirty="0">
                <a:solidFill>
                  <a:srgbClr val="2B3541"/>
                </a:solidFill>
                <a:latin typeface="Funnel Display Light" pitchFamily="34" charset="0"/>
                <a:ea typeface="Funnel Display Light" pitchFamily="34" charset="-122"/>
                <a:cs typeface="Funnel Display Light" pitchFamily="34" charset="-120"/>
              </a:rPr>
              <a:t>01</a:t>
            </a:r>
            <a:endParaRPr lang="en-US" sz="600" dirty="0"/>
          </a:p>
        </p:txBody>
      </p:sp>
      <p:sp>
        <p:nvSpPr>
          <p:cNvPr id="7" name="Shape 4"/>
          <p:cNvSpPr/>
          <p:nvPr/>
        </p:nvSpPr>
        <p:spPr>
          <a:xfrm>
            <a:off x="523577" y="3833217"/>
            <a:ext cx="2670795" cy="9525"/>
          </a:xfrm>
          <a:prstGeom prst="rect">
            <a:avLst/>
          </a:prstGeom>
          <a:solidFill>
            <a:srgbClr val="3371A5"/>
          </a:solidFill>
          <a:ln/>
        </p:spPr>
      </p:sp>
      <p:sp>
        <p:nvSpPr>
          <p:cNvPr id="8" name="Text 5"/>
          <p:cNvSpPr/>
          <p:nvPr/>
        </p:nvSpPr>
        <p:spPr>
          <a:xfrm>
            <a:off x="523577" y="3892004"/>
            <a:ext cx="2670795" cy="116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kern="0" spc="-13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Dataset (.csv)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523577" y="4034210"/>
            <a:ext cx="2670795" cy="97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600" kern="0" spc="-13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500-row grocery sales dataset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3236565" y="3707681"/>
            <a:ext cx="158948" cy="993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" kern="0" spc="-13" dirty="0">
                <a:solidFill>
                  <a:srgbClr val="2B3541"/>
                </a:solidFill>
                <a:latin typeface="Funnel Display Light" pitchFamily="34" charset="0"/>
                <a:ea typeface="Funnel Display Light" pitchFamily="34" charset="-122"/>
                <a:cs typeface="Funnel Display Light" pitchFamily="34" charset="-120"/>
              </a:rPr>
              <a:t>02</a:t>
            </a:r>
            <a:endParaRPr lang="en-US" sz="600" dirty="0"/>
          </a:p>
        </p:txBody>
      </p:sp>
      <p:sp>
        <p:nvSpPr>
          <p:cNvPr id="11" name="Shape 8"/>
          <p:cNvSpPr/>
          <p:nvPr/>
        </p:nvSpPr>
        <p:spPr>
          <a:xfrm>
            <a:off x="3236565" y="3833217"/>
            <a:ext cx="2670795" cy="9525"/>
          </a:xfrm>
          <a:prstGeom prst="rect">
            <a:avLst/>
          </a:prstGeom>
          <a:solidFill>
            <a:srgbClr val="3371A5"/>
          </a:solidFill>
          <a:ln/>
        </p:spPr>
      </p:sp>
      <p:sp>
        <p:nvSpPr>
          <p:cNvPr id="12" name="Text 9"/>
          <p:cNvSpPr/>
          <p:nvPr/>
        </p:nvSpPr>
        <p:spPr>
          <a:xfrm>
            <a:off x="3236565" y="3892004"/>
            <a:ext cx="2670795" cy="116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kern="0" spc="-13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Power BI Dashboard (.pbix)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3236565" y="4034210"/>
            <a:ext cx="2670795" cy="97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600" kern="0" spc="-13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Interactive, fully functional report</a:t>
            </a:r>
            <a:endParaRPr lang="en-US" sz="600" dirty="0"/>
          </a:p>
        </p:txBody>
      </p:sp>
      <p:sp>
        <p:nvSpPr>
          <p:cNvPr id="14" name="Text 11"/>
          <p:cNvSpPr/>
          <p:nvPr/>
        </p:nvSpPr>
        <p:spPr>
          <a:xfrm>
            <a:off x="5949553" y="3707681"/>
            <a:ext cx="158948" cy="993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" kern="0" spc="-13" dirty="0">
                <a:solidFill>
                  <a:srgbClr val="2B3541"/>
                </a:solidFill>
                <a:latin typeface="Funnel Display Light" pitchFamily="34" charset="0"/>
                <a:ea typeface="Funnel Display Light" pitchFamily="34" charset="-122"/>
                <a:cs typeface="Funnel Display Light" pitchFamily="34" charset="-120"/>
              </a:rPr>
              <a:t>03</a:t>
            </a:r>
            <a:endParaRPr lang="en-US" sz="600" dirty="0"/>
          </a:p>
        </p:txBody>
      </p:sp>
      <p:sp>
        <p:nvSpPr>
          <p:cNvPr id="15" name="Shape 12"/>
          <p:cNvSpPr/>
          <p:nvPr/>
        </p:nvSpPr>
        <p:spPr>
          <a:xfrm>
            <a:off x="5949553" y="3833217"/>
            <a:ext cx="2670795" cy="9525"/>
          </a:xfrm>
          <a:prstGeom prst="rect">
            <a:avLst/>
          </a:prstGeom>
          <a:solidFill>
            <a:srgbClr val="3371A5"/>
          </a:solidFill>
          <a:ln/>
        </p:spPr>
      </p:sp>
      <p:sp>
        <p:nvSpPr>
          <p:cNvPr id="16" name="Text 13"/>
          <p:cNvSpPr/>
          <p:nvPr/>
        </p:nvSpPr>
        <p:spPr>
          <a:xfrm>
            <a:off x="5949553" y="3892004"/>
            <a:ext cx="2670795" cy="116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kern="0" spc="-13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Project Presentation (.pptx)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5949553" y="4034210"/>
            <a:ext cx="2670795" cy="97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600" kern="0" spc="-13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Overview, objectives, and conclusions</a:t>
            </a:r>
            <a:endParaRPr lang="en-US" sz="600" dirty="0"/>
          </a:p>
        </p:txBody>
      </p:sp>
      <p:sp>
        <p:nvSpPr>
          <p:cNvPr id="18" name="Text 15"/>
          <p:cNvSpPr/>
          <p:nvPr/>
        </p:nvSpPr>
        <p:spPr>
          <a:xfrm>
            <a:off x="523577" y="4233342"/>
            <a:ext cx="158948" cy="993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" kern="0" spc="-13" dirty="0">
                <a:solidFill>
                  <a:srgbClr val="2B3541"/>
                </a:solidFill>
                <a:latin typeface="Funnel Display Light" pitchFamily="34" charset="0"/>
                <a:ea typeface="Funnel Display Light" pitchFamily="34" charset="-122"/>
                <a:cs typeface="Funnel Display Light" pitchFamily="34" charset="-120"/>
              </a:rPr>
              <a:t>04</a:t>
            </a:r>
            <a:endParaRPr lang="en-US" sz="600" dirty="0"/>
          </a:p>
        </p:txBody>
      </p:sp>
      <p:sp>
        <p:nvSpPr>
          <p:cNvPr id="19" name="Shape 16"/>
          <p:cNvSpPr/>
          <p:nvPr/>
        </p:nvSpPr>
        <p:spPr>
          <a:xfrm>
            <a:off x="523577" y="4358878"/>
            <a:ext cx="4027289" cy="9525"/>
          </a:xfrm>
          <a:prstGeom prst="rect">
            <a:avLst/>
          </a:prstGeom>
          <a:solidFill>
            <a:srgbClr val="3371A5"/>
          </a:solidFill>
          <a:ln/>
        </p:spPr>
      </p:sp>
      <p:sp>
        <p:nvSpPr>
          <p:cNvPr id="20" name="Text 17"/>
          <p:cNvSpPr/>
          <p:nvPr/>
        </p:nvSpPr>
        <p:spPr>
          <a:xfrm>
            <a:off x="523577" y="4417665"/>
            <a:ext cx="4027289" cy="116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kern="0" spc="-13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Documentation (.docx / .pdf)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523577" y="4559871"/>
            <a:ext cx="4027289" cy="97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600" kern="0" spc="-13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Methodology and project details</a:t>
            </a:r>
            <a:endParaRPr lang="en-US" sz="600" dirty="0"/>
          </a:p>
        </p:txBody>
      </p:sp>
      <p:sp>
        <p:nvSpPr>
          <p:cNvPr id="22" name="Text 19"/>
          <p:cNvSpPr/>
          <p:nvPr/>
        </p:nvSpPr>
        <p:spPr>
          <a:xfrm>
            <a:off x="4593059" y="4233342"/>
            <a:ext cx="158948" cy="993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" kern="0" spc="-13" dirty="0">
                <a:solidFill>
                  <a:srgbClr val="2B3541"/>
                </a:solidFill>
                <a:latin typeface="Funnel Display Light" pitchFamily="34" charset="0"/>
                <a:ea typeface="Funnel Display Light" pitchFamily="34" charset="-122"/>
                <a:cs typeface="Funnel Display Light" pitchFamily="34" charset="-120"/>
              </a:rPr>
              <a:t>05</a:t>
            </a:r>
            <a:endParaRPr lang="en-US" sz="600" dirty="0"/>
          </a:p>
        </p:txBody>
      </p:sp>
      <p:sp>
        <p:nvSpPr>
          <p:cNvPr id="23" name="Shape 20"/>
          <p:cNvSpPr/>
          <p:nvPr/>
        </p:nvSpPr>
        <p:spPr>
          <a:xfrm>
            <a:off x="4593059" y="4358878"/>
            <a:ext cx="4027289" cy="9525"/>
          </a:xfrm>
          <a:prstGeom prst="rect">
            <a:avLst/>
          </a:prstGeom>
          <a:solidFill>
            <a:srgbClr val="3371A5"/>
          </a:solidFill>
          <a:ln/>
        </p:spPr>
      </p:sp>
      <p:sp>
        <p:nvSpPr>
          <p:cNvPr id="24" name="Text 21"/>
          <p:cNvSpPr/>
          <p:nvPr/>
        </p:nvSpPr>
        <p:spPr>
          <a:xfrm>
            <a:off x="4593059" y="4417665"/>
            <a:ext cx="4027289" cy="116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kern="0" spc="-13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Dashboard Screenshots (.png)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4593059" y="4559871"/>
            <a:ext cx="4027289" cy="97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600" kern="0" spc="-13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All visualisation pages captured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FAF5EB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8103" y="369912"/>
            <a:ext cx="3302719" cy="44036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577" y="453554"/>
            <a:ext cx="4667845" cy="371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kern="0" spc="-2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Key Takeaways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523577" y="984647"/>
            <a:ext cx="4667845" cy="2761655"/>
          </a:xfrm>
          <a:prstGeom prst="roundRect">
            <a:avLst>
              <a:gd name="adj" fmla="val 1920"/>
            </a:avLst>
          </a:prstGeom>
          <a:solidFill>
            <a:srgbClr val="FAF5EB"/>
          </a:solidFill>
          <a:ln w="4763">
            <a:solidFill>
              <a:srgbClr val="D5CDB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28340" y="989409"/>
            <a:ext cx="4658320" cy="688032"/>
          </a:xfrm>
          <a:custGeom>
            <a:avLst/>
            <a:gdLst/>
            <a:ahLst/>
            <a:cxnLst/>
            <a:rect l="l" t="t" r="r" b="b"/>
            <a:pathLst>
              <a:path w="4658320" h="688032">
                <a:moveTo>
                  <a:pt x="44183" y="0"/>
                </a:moveTo>
                <a:lnTo>
                  <a:pt x="4614138" y="0"/>
                </a:lnTo>
                <a:arcTo wR="44183" hR="44183" stAng="16200000" swAng="5400000"/>
                <a:lnTo>
                  <a:pt x="4658320" y="688032"/>
                </a:lnTo>
                <a:lnTo>
                  <a:pt x="0" y="688032"/>
                </a:lnTo>
                <a:lnTo>
                  <a:pt x="0" y="44183"/>
                </a:lnTo>
                <a:arcTo wR="44183" hR="44183" stAng="10800000" swAng="5400000"/>
                <a:close/>
              </a:path>
            </a:pathLst>
          </a:custGeom>
          <a:solidFill>
            <a:srgbClr val="FAF5EB"/>
          </a:solidFill>
          <a:ln/>
        </p:spPr>
      </p:sp>
      <p:sp>
        <p:nvSpPr>
          <p:cNvPr id="7" name="Text 4"/>
          <p:cNvSpPr/>
          <p:nvPr/>
        </p:nvSpPr>
        <p:spPr>
          <a:xfrm>
            <a:off x="654546" y="1115616"/>
            <a:ext cx="4405908" cy="185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kern="0" spc="-2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Clear Performance View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54546" y="1365126"/>
            <a:ext cx="4405908" cy="18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50" kern="0" spc="-2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 single dashboard tracks Sales, Profit, Orders, and Quantity across all outlets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28340" y="1677442"/>
            <a:ext cx="4658320" cy="688032"/>
          </a:xfrm>
          <a:prstGeom prst="rect">
            <a:avLst/>
          </a:prstGeom>
          <a:solidFill>
            <a:srgbClr val="FAF5EB"/>
          </a:solidFill>
          <a:ln/>
        </p:spPr>
      </p:sp>
      <p:sp>
        <p:nvSpPr>
          <p:cNvPr id="10" name="Shape 7"/>
          <p:cNvSpPr/>
          <p:nvPr/>
        </p:nvSpPr>
        <p:spPr>
          <a:xfrm>
            <a:off x="528340" y="1677442"/>
            <a:ext cx="4658320" cy="14288"/>
          </a:xfrm>
          <a:prstGeom prst="roundRect">
            <a:avLst>
              <a:gd name="adj" fmla="val 49998"/>
            </a:avLst>
          </a:prstGeom>
          <a:solidFill>
            <a:srgbClr val="D5CDBE"/>
          </a:solidFill>
          <a:ln/>
        </p:spPr>
      </p:sp>
      <p:sp>
        <p:nvSpPr>
          <p:cNvPr id="11" name="Text 8"/>
          <p:cNvSpPr/>
          <p:nvPr/>
        </p:nvSpPr>
        <p:spPr>
          <a:xfrm>
            <a:off x="654546" y="1803648"/>
            <a:ext cx="4405908" cy="185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kern="0" spc="-2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Outlet &amp; Category Insights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54546" y="2053158"/>
            <a:ext cx="4405908" cy="18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50" kern="0" spc="-2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Identify high-performing outlets and top-selling product categories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28340" y="2365474"/>
            <a:ext cx="4658320" cy="688032"/>
          </a:xfrm>
          <a:prstGeom prst="rect">
            <a:avLst/>
          </a:prstGeom>
          <a:solidFill>
            <a:srgbClr val="FAF5EB"/>
          </a:solidFill>
          <a:ln/>
        </p:spPr>
      </p:sp>
      <p:sp>
        <p:nvSpPr>
          <p:cNvPr id="14" name="Shape 11"/>
          <p:cNvSpPr/>
          <p:nvPr/>
        </p:nvSpPr>
        <p:spPr>
          <a:xfrm>
            <a:off x="528340" y="2365474"/>
            <a:ext cx="4658320" cy="14288"/>
          </a:xfrm>
          <a:prstGeom prst="roundRect">
            <a:avLst>
              <a:gd name="adj" fmla="val 49998"/>
            </a:avLst>
          </a:prstGeom>
          <a:solidFill>
            <a:srgbClr val="D5CDBE"/>
          </a:solidFill>
          <a:ln/>
        </p:spPr>
      </p:sp>
      <p:sp>
        <p:nvSpPr>
          <p:cNvPr id="15" name="Text 12"/>
          <p:cNvSpPr/>
          <p:nvPr/>
        </p:nvSpPr>
        <p:spPr>
          <a:xfrm>
            <a:off x="654546" y="2491680"/>
            <a:ext cx="4405908" cy="185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kern="0" spc="-2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Delivery Monitoring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54546" y="2741191"/>
            <a:ext cx="4405908" cy="18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50" kern="0" spc="-2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Track delivery time and status to maintain service quality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28340" y="3053507"/>
            <a:ext cx="4658320" cy="688032"/>
          </a:xfrm>
          <a:custGeom>
            <a:avLst/>
            <a:gdLst/>
            <a:ahLst/>
            <a:cxnLst/>
            <a:rect l="l" t="t" r="r" b="b"/>
            <a:pathLst>
              <a:path w="4658320" h="688032">
                <a:moveTo>
                  <a:pt x="0" y="0"/>
                </a:moveTo>
                <a:lnTo>
                  <a:pt x="4658320" y="0"/>
                </a:lnTo>
                <a:lnTo>
                  <a:pt x="4658320" y="643850"/>
                </a:lnTo>
                <a:arcTo wR="44183" hR="44183" stAng="0" swAng="5400000"/>
                <a:lnTo>
                  <a:pt x="44183" y="688032"/>
                </a:lnTo>
                <a:arcTo wR="44183" hR="44183" stAng="5400000" swAng="5400000"/>
                <a:lnTo>
                  <a:pt x="0" y="0"/>
                </a:lnTo>
                <a:close/>
              </a:path>
            </a:pathLst>
          </a:custGeom>
          <a:solidFill>
            <a:srgbClr val="FAF5EB"/>
          </a:solidFill>
          <a:ln/>
        </p:spPr>
      </p:sp>
      <p:sp>
        <p:nvSpPr>
          <p:cNvPr id="18" name="Shape 15"/>
          <p:cNvSpPr/>
          <p:nvPr/>
        </p:nvSpPr>
        <p:spPr>
          <a:xfrm>
            <a:off x="528340" y="3053507"/>
            <a:ext cx="4658320" cy="14288"/>
          </a:xfrm>
          <a:prstGeom prst="roundRect">
            <a:avLst>
              <a:gd name="adj" fmla="val 49998"/>
            </a:avLst>
          </a:prstGeom>
          <a:solidFill>
            <a:srgbClr val="D5CDBE"/>
          </a:solidFill>
          <a:ln/>
        </p:spPr>
      </p:sp>
      <p:sp>
        <p:nvSpPr>
          <p:cNvPr id="19" name="Text 16"/>
          <p:cNvSpPr/>
          <p:nvPr/>
        </p:nvSpPr>
        <p:spPr>
          <a:xfrm>
            <a:off x="654546" y="3179713"/>
            <a:ext cx="4405908" cy="185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kern="0" spc="-2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Faster Decisions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654546" y="3429223"/>
            <a:ext cx="4405908" cy="18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50" kern="0" spc="-2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Interactive slicers enable stakeholders to explore data from any angle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23577" y="3866108"/>
            <a:ext cx="4667845" cy="823764"/>
          </a:xfrm>
          <a:prstGeom prst="roundRect">
            <a:avLst>
              <a:gd name="adj" fmla="val 6436"/>
            </a:avLst>
          </a:prstGeom>
          <a:solidFill>
            <a:srgbClr val="D8E7F3"/>
          </a:solidFill>
          <a:ln/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784" y="4022303"/>
            <a:ext cx="157758" cy="126206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933748" y="4004146"/>
            <a:ext cx="4131469" cy="5583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50" kern="0" spc="-2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This dashboard empowers Mumbai (Andheri) operations teams to make </a:t>
            </a:r>
            <a:r>
              <a:rPr lang="en-US" sz="950" b="1" kern="0" spc="-20" dirty="0">
                <a:solidFill>
                  <a:srgbClr val="000000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faster, data-driven decisions</a:t>
            </a:r>
            <a:r>
              <a:rPr lang="en-US" sz="950" kern="0" spc="-2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— from daily outlet management to strategic planning.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567</Words>
  <Application>Microsoft Office PowerPoint</Application>
  <PresentationFormat>On-screen Show (16:9)</PresentationFormat>
  <Paragraphs>120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Funnel Display</vt:lpstr>
      <vt:lpstr>Funnel Sans Bold</vt:lpstr>
      <vt:lpstr>Funnel Display Light</vt:lpstr>
      <vt:lpstr>Funnel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manoj</dc:creator>
  <cp:lastModifiedBy>shivraj toagre</cp:lastModifiedBy>
  <cp:revision>2</cp:revision>
  <dcterms:created xsi:type="dcterms:W3CDTF">2026-08-09T08:06:28Z</dcterms:created>
  <dcterms:modified xsi:type="dcterms:W3CDTF">2026-08-09T08:09:30Z</dcterms:modified>
</cp:coreProperties>
</file>